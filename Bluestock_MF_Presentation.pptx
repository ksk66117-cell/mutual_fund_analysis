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5" r:id="rId10"/>
    <p:sldId id="263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40BE48-5C84-4B6B-87F6-D1100DDBF2E3}" v="2" dt="2026-07-02T15:40:37.8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77" y="4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thana K S" userId="3ff76074fc16ad30" providerId="LiveId" clId="{D346F92D-0CDE-4233-B3FB-DF1ECFBFC5B9}"/>
    <pc:docChg chg="custSel modSld">
      <pc:chgData name="Keerthana K S" userId="3ff76074fc16ad30" providerId="LiveId" clId="{D346F92D-0CDE-4233-B3FB-DF1ECFBFC5B9}" dt="2026-07-02T15:40:46.624" v="199" actId="478"/>
      <pc:docMkLst>
        <pc:docMk/>
      </pc:docMkLst>
      <pc:sldChg chg="modSp mod">
        <pc:chgData name="Keerthana K S" userId="3ff76074fc16ad30" providerId="LiveId" clId="{D346F92D-0CDE-4233-B3FB-DF1ECFBFC5B9}" dt="2026-07-02T15:31:28.785" v="51" actId="20577"/>
        <pc:sldMkLst>
          <pc:docMk/>
          <pc:sldMk cId="621915122" sldId="256"/>
        </pc:sldMkLst>
        <pc:spChg chg="mod">
          <ac:chgData name="Keerthana K S" userId="3ff76074fc16ad30" providerId="LiveId" clId="{D346F92D-0CDE-4233-B3FB-DF1ECFBFC5B9}" dt="2026-07-02T15:31:28.785" v="51" actId="20577"/>
          <ac:spMkLst>
            <pc:docMk/>
            <pc:sldMk cId="621915122" sldId="256"/>
            <ac:spMk id="3" creationId="{00000000-0000-0000-0000-000000000000}"/>
          </ac:spMkLst>
        </pc:spChg>
      </pc:sldChg>
      <pc:sldChg chg="addSp delSp modSp mod">
        <pc:chgData name="Keerthana K S" userId="3ff76074fc16ad30" providerId="LiveId" clId="{D346F92D-0CDE-4233-B3FB-DF1ECFBFC5B9}" dt="2026-07-02T15:40:46.624" v="199" actId="478"/>
        <pc:sldMkLst>
          <pc:docMk/>
          <pc:sldMk cId="3558482126" sldId="263"/>
        </pc:sldMkLst>
        <pc:picChg chg="del">
          <ac:chgData name="Keerthana K S" userId="3ff76074fc16ad30" providerId="LiveId" clId="{D346F92D-0CDE-4233-B3FB-DF1ECFBFC5B9}" dt="2026-07-02T15:39:12.625" v="185" actId="478"/>
          <ac:picMkLst>
            <pc:docMk/>
            <pc:sldMk cId="3558482126" sldId="263"/>
            <ac:picMk id="4" creationId="{00000000-0000-0000-0000-000000000000}"/>
          </ac:picMkLst>
        </pc:picChg>
        <pc:picChg chg="del">
          <ac:chgData name="Keerthana K S" userId="3ff76074fc16ad30" providerId="LiveId" clId="{D346F92D-0CDE-4233-B3FB-DF1ECFBFC5B9}" dt="2026-07-02T15:39:14.725" v="186" actId="478"/>
          <ac:picMkLst>
            <pc:docMk/>
            <pc:sldMk cId="3558482126" sldId="263"/>
            <ac:picMk id="5" creationId="{00000000-0000-0000-0000-000000000000}"/>
          </ac:picMkLst>
        </pc:picChg>
        <pc:picChg chg="add mod">
          <ac:chgData name="Keerthana K S" userId="3ff76074fc16ad30" providerId="LiveId" clId="{D346F92D-0CDE-4233-B3FB-DF1ECFBFC5B9}" dt="2026-07-02T15:40:23.329" v="196" actId="1076"/>
          <ac:picMkLst>
            <pc:docMk/>
            <pc:sldMk cId="3558482126" sldId="263"/>
            <ac:picMk id="6" creationId="{87287481-70A8-C0E8-81C6-EB4DCE2B2B8A}"/>
          </ac:picMkLst>
        </pc:picChg>
        <pc:picChg chg="add mod">
          <ac:chgData name="Keerthana K S" userId="3ff76074fc16ad30" providerId="LiveId" clId="{D346F92D-0CDE-4233-B3FB-DF1ECFBFC5B9}" dt="2026-07-02T15:40:34.086" v="197" actId="14100"/>
          <ac:picMkLst>
            <pc:docMk/>
            <pc:sldMk cId="3558482126" sldId="263"/>
            <ac:picMk id="8" creationId="{A2DC19BB-2DDC-1D9D-3069-DF1DE87BF986}"/>
          </ac:picMkLst>
        </pc:picChg>
        <pc:picChg chg="add del mod">
          <ac:chgData name="Keerthana K S" userId="3ff76074fc16ad30" providerId="LiveId" clId="{D346F92D-0CDE-4233-B3FB-DF1ECFBFC5B9}" dt="2026-07-02T15:40:46.624" v="199" actId="478"/>
          <ac:picMkLst>
            <pc:docMk/>
            <pc:sldMk cId="3558482126" sldId="263"/>
            <ac:picMk id="9" creationId="{1CDF595D-5884-F1D5-D33F-27C8FF39629F}"/>
          </ac:picMkLst>
        </pc:picChg>
      </pc:sldChg>
      <pc:sldChg chg="addSp delSp modSp mod">
        <pc:chgData name="Keerthana K S" userId="3ff76074fc16ad30" providerId="LiveId" clId="{D346F92D-0CDE-4233-B3FB-DF1ECFBFC5B9}" dt="2026-07-02T15:39:05.042" v="184" actId="14100"/>
        <pc:sldMkLst>
          <pc:docMk/>
          <pc:sldMk cId="1544602709" sldId="265"/>
        </pc:sldMkLst>
        <pc:picChg chg="del">
          <ac:chgData name="Keerthana K S" userId="3ff76074fc16ad30" providerId="LiveId" clId="{D346F92D-0CDE-4233-B3FB-DF1ECFBFC5B9}" dt="2026-07-02T15:37:30.824" v="170" actId="478"/>
          <ac:picMkLst>
            <pc:docMk/>
            <pc:sldMk cId="1544602709" sldId="265"/>
            <ac:picMk id="4" creationId="{00000000-0000-0000-0000-000000000000}"/>
          </ac:picMkLst>
        </pc:picChg>
        <pc:picChg chg="del">
          <ac:chgData name="Keerthana K S" userId="3ff76074fc16ad30" providerId="LiveId" clId="{D346F92D-0CDE-4233-B3FB-DF1ECFBFC5B9}" dt="2026-07-02T15:37:33.556" v="171" actId="478"/>
          <ac:picMkLst>
            <pc:docMk/>
            <pc:sldMk cId="1544602709" sldId="265"/>
            <ac:picMk id="5" creationId="{00000000-0000-0000-0000-000000000000}"/>
          </ac:picMkLst>
        </pc:picChg>
        <pc:picChg chg="add mod">
          <ac:chgData name="Keerthana K S" userId="3ff76074fc16ad30" providerId="LiveId" clId="{D346F92D-0CDE-4233-B3FB-DF1ECFBFC5B9}" dt="2026-07-02T15:38:28.035" v="176" actId="14100"/>
          <ac:picMkLst>
            <pc:docMk/>
            <pc:sldMk cId="1544602709" sldId="265"/>
            <ac:picMk id="7" creationId="{0410938F-1A07-268F-3A06-22A531050047}"/>
          </ac:picMkLst>
        </pc:picChg>
        <pc:picChg chg="add mod">
          <ac:chgData name="Keerthana K S" userId="3ff76074fc16ad30" providerId="LiveId" clId="{D346F92D-0CDE-4233-B3FB-DF1ECFBFC5B9}" dt="2026-07-02T15:39:05.042" v="184" actId="14100"/>
          <ac:picMkLst>
            <pc:docMk/>
            <pc:sldMk cId="1544602709" sldId="265"/>
            <ac:picMk id="9" creationId="{7BCD76CC-A895-1592-23C3-737BE9C4CD04}"/>
          </ac:picMkLst>
        </pc:picChg>
      </pc:sldChg>
      <pc:sldChg chg="modSp mod">
        <pc:chgData name="Keerthana K S" userId="3ff76074fc16ad30" providerId="LiveId" clId="{D346F92D-0CDE-4233-B3FB-DF1ECFBFC5B9}" dt="2026-07-02T15:37:14.130" v="169" actId="20577"/>
        <pc:sldMkLst>
          <pc:docMk/>
          <pc:sldMk cId="3485627745" sldId="267"/>
        </pc:sldMkLst>
        <pc:spChg chg="mod">
          <ac:chgData name="Keerthana K S" userId="3ff76074fc16ad30" providerId="LiveId" clId="{D346F92D-0CDE-4233-B3FB-DF1ECFBFC5B9}" dt="2026-07-02T15:37:14.130" v="169" actId="20577"/>
          <ac:spMkLst>
            <pc:docMk/>
            <pc:sldMk cId="3485627745" sldId="267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400" dirty="0"/>
              <a:t>MUTUAL FUND ANALYTICS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567891" y="1482291"/>
            <a:ext cx="8706111" cy="4559071"/>
          </a:xfrm>
        </p:spPr>
        <p:txBody>
          <a:bodyPr>
            <a:normAutofit/>
          </a:bodyPr>
          <a:lstStyle/>
          <a:p>
            <a:r>
              <a:rPr lang="en-US" sz="2000" b="1" dirty="0" err="1"/>
              <a:t>Bluestock</a:t>
            </a:r>
            <a:r>
              <a:rPr lang="en-US" sz="2000" b="1" dirty="0"/>
              <a:t> Fintech Capstone Project</a:t>
            </a:r>
            <a:endParaRPr lang="en-US" sz="2000" dirty="0"/>
          </a:p>
          <a:p>
            <a:r>
              <a:rPr lang="en-US" sz="2000" dirty="0"/>
              <a:t>Submitted By:</a:t>
            </a:r>
            <a:br>
              <a:rPr lang="en-US" sz="2000" dirty="0"/>
            </a:br>
            <a:r>
              <a:rPr lang="en-US" sz="2000" b="1" dirty="0"/>
              <a:t>K.S.KEERTHANA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 err="1"/>
              <a:t>Bluestock</a:t>
            </a:r>
            <a:r>
              <a:rPr lang="en-US" sz="2000" dirty="0"/>
              <a:t> Fintech Internship</a:t>
            </a:r>
            <a:br>
              <a:rPr lang="en-US" sz="2000" dirty="0"/>
            </a:br>
            <a:r>
              <a:rPr lang="en-US" sz="2000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621915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387" y="1501541"/>
            <a:ext cx="8821615" cy="453982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Problem Statement</a:t>
            </a:r>
          </a:p>
          <a:p>
            <a:r>
              <a:rPr lang="en-US" dirty="0"/>
              <a:t>Investors face challenges in:</a:t>
            </a:r>
          </a:p>
          <a:p>
            <a:r>
              <a:rPr lang="en-US" dirty="0"/>
              <a:t>Selecting suitable mutual funds. </a:t>
            </a:r>
          </a:p>
          <a:p>
            <a:r>
              <a:rPr lang="en-US" dirty="0"/>
              <a:t>Understanding risk and return. </a:t>
            </a:r>
          </a:p>
          <a:p>
            <a:r>
              <a:rPr lang="en-US" dirty="0"/>
              <a:t>Tracking SIP growth. </a:t>
            </a:r>
          </a:p>
          <a:p>
            <a:r>
              <a:rPr lang="en-US" dirty="0"/>
              <a:t>Comparing fund performance. </a:t>
            </a:r>
          </a:p>
          <a:p>
            <a:r>
              <a:rPr lang="en-US" b="1" dirty="0"/>
              <a:t>Objectives</a:t>
            </a:r>
          </a:p>
          <a:p>
            <a:r>
              <a:rPr lang="en-US" dirty="0"/>
              <a:t>Data Cleaning </a:t>
            </a:r>
          </a:p>
          <a:p>
            <a:r>
              <a:rPr lang="en-US" dirty="0"/>
              <a:t>Performance Analysis </a:t>
            </a:r>
          </a:p>
          <a:p>
            <a:r>
              <a:rPr lang="en-US" dirty="0"/>
              <a:t>Risk Analysis </a:t>
            </a:r>
          </a:p>
          <a:p>
            <a:r>
              <a:rPr lang="en-US" dirty="0"/>
              <a:t>Dashboard Development </a:t>
            </a:r>
          </a:p>
          <a:p>
            <a:r>
              <a:rPr lang="en-US" dirty="0"/>
              <a:t>Investor Analytics</a:t>
            </a:r>
          </a:p>
        </p:txBody>
      </p:sp>
    </p:spTree>
    <p:extLst>
      <p:ext uri="{BB962C8B-B14F-4D97-AF65-F5344CB8AC3E}">
        <p14:creationId xmlns:p14="http://schemas.microsoft.com/office/powerpoint/2010/main" val="1079519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015" y="1645921"/>
            <a:ext cx="8734987" cy="4395442"/>
          </a:xfrm>
        </p:spPr>
        <p:txBody>
          <a:bodyPr>
            <a:normAutofit/>
          </a:bodyPr>
          <a:lstStyle/>
          <a:p>
            <a:r>
              <a:rPr lang="en-IN" b="1" dirty="0"/>
              <a:t>Datasets Used</a:t>
            </a:r>
          </a:p>
          <a:p>
            <a:r>
              <a:rPr lang="en-IN" dirty="0"/>
              <a:t>Fund Master Data </a:t>
            </a:r>
          </a:p>
          <a:p>
            <a:r>
              <a:rPr lang="en-IN" dirty="0"/>
              <a:t>NAV History </a:t>
            </a:r>
          </a:p>
          <a:p>
            <a:r>
              <a:rPr lang="en-IN" dirty="0"/>
              <a:t>AUM Data </a:t>
            </a:r>
          </a:p>
          <a:p>
            <a:r>
              <a:rPr lang="en-IN" dirty="0"/>
              <a:t>SIP Inflows </a:t>
            </a:r>
          </a:p>
          <a:p>
            <a:r>
              <a:rPr lang="en-IN" dirty="0"/>
              <a:t>Investor Transactions </a:t>
            </a:r>
          </a:p>
          <a:p>
            <a:r>
              <a:rPr lang="en-IN" dirty="0"/>
              <a:t>Portfolio Holdings </a:t>
            </a:r>
          </a:p>
          <a:p>
            <a:r>
              <a:rPr lang="en-IN" dirty="0"/>
              <a:t>Benchmark Indices </a:t>
            </a:r>
          </a:p>
          <a:p>
            <a:r>
              <a:rPr lang="en-IN" b="1" dirty="0"/>
              <a:t>Total Datasets: 10</a:t>
            </a:r>
          </a:p>
          <a:p>
            <a:r>
              <a:rPr lang="en-IN" b="1" dirty="0"/>
              <a:t>Period:</a:t>
            </a:r>
          </a:p>
          <a:p>
            <a:r>
              <a:rPr lang="en-IN" dirty="0"/>
              <a:t>2022–2026</a:t>
            </a:r>
          </a:p>
        </p:txBody>
      </p:sp>
    </p:spTree>
    <p:extLst>
      <p:ext uri="{BB962C8B-B14F-4D97-AF65-F5344CB8AC3E}">
        <p14:creationId xmlns:p14="http://schemas.microsoft.com/office/powerpoint/2010/main" val="2541495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015" y="1568919"/>
            <a:ext cx="8734987" cy="4472444"/>
          </a:xfrm>
        </p:spPr>
        <p:txBody>
          <a:bodyPr/>
          <a:lstStyle/>
          <a:p>
            <a:r>
              <a:rPr lang="en-US" b="1" dirty="0"/>
              <a:t>Project Workflow</a:t>
            </a:r>
          </a:p>
          <a:p>
            <a:r>
              <a:rPr lang="en-US" dirty="0"/>
              <a:t>Data Collection </a:t>
            </a:r>
          </a:p>
          <a:p>
            <a:r>
              <a:rPr lang="en-US" dirty="0"/>
              <a:t>Data Cleaning </a:t>
            </a:r>
          </a:p>
          <a:p>
            <a:r>
              <a:rPr lang="en-US" dirty="0"/>
              <a:t>SQLite Database </a:t>
            </a:r>
          </a:p>
          <a:p>
            <a:r>
              <a:rPr lang="en-US" dirty="0"/>
              <a:t>EDA Analysis </a:t>
            </a:r>
          </a:p>
          <a:p>
            <a:r>
              <a:rPr lang="en-US" dirty="0"/>
              <a:t>Performance Analytics </a:t>
            </a:r>
          </a:p>
          <a:p>
            <a:r>
              <a:rPr lang="en-US" dirty="0"/>
              <a:t>Advanced Analytics </a:t>
            </a:r>
          </a:p>
          <a:p>
            <a:r>
              <a:rPr lang="en-US" dirty="0"/>
              <a:t>Power BI Dashboard </a:t>
            </a:r>
          </a:p>
          <a:p>
            <a:r>
              <a:rPr lang="en-US" dirty="0"/>
              <a:t>Final Reporting</a:t>
            </a:r>
          </a:p>
        </p:txBody>
      </p:sp>
    </p:spTree>
    <p:extLst>
      <p:ext uri="{BB962C8B-B14F-4D97-AF65-F5344CB8AC3E}">
        <p14:creationId xmlns:p14="http://schemas.microsoft.com/office/powerpoint/2010/main" val="2168741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764" y="1386039"/>
            <a:ext cx="8754238" cy="4655324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EDA Highlights</a:t>
            </a:r>
          </a:p>
          <a:p>
            <a:r>
              <a:rPr lang="en-IN" dirty="0"/>
              <a:t>NAV trend analysis </a:t>
            </a:r>
          </a:p>
          <a:p>
            <a:r>
              <a:rPr lang="en-IN" dirty="0"/>
              <a:t>SIP inflow analysis </a:t>
            </a:r>
          </a:p>
          <a:p>
            <a:r>
              <a:rPr lang="en-IN" dirty="0"/>
              <a:t>AUM growth analysis </a:t>
            </a:r>
          </a:p>
          <a:p>
            <a:r>
              <a:rPr lang="en-IN" dirty="0"/>
              <a:t>Investor demographics </a:t>
            </a:r>
          </a:p>
          <a:p>
            <a:r>
              <a:rPr lang="en-IN" dirty="0"/>
              <a:t>Category inflows </a:t>
            </a:r>
          </a:p>
          <a:p>
            <a:r>
              <a:rPr lang="en-IN" dirty="0"/>
              <a:t>Geographic distribution </a:t>
            </a:r>
          </a:p>
          <a:p>
            <a:r>
              <a:rPr lang="en-IN" b="1" dirty="0"/>
              <a:t>Charts Created:</a:t>
            </a:r>
          </a:p>
          <a:p>
            <a:r>
              <a:rPr lang="en-IN" dirty="0"/>
              <a:t>15+ visualizations</a:t>
            </a:r>
          </a:p>
          <a:p>
            <a:r>
              <a:rPr lang="en-IN" dirty="0"/>
              <a:t>Insert:</a:t>
            </a:r>
          </a:p>
          <a:p>
            <a:r>
              <a:rPr lang="en-IN" dirty="0"/>
              <a:t>NAV chart </a:t>
            </a:r>
          </a:p>
          <a:p>
            <a:r>
              <a:rPr lang="en-IN" dirty="0"/>
              <a:t>SIP chart </a:t>
            </a:r>
          </a:p>
        </p:txBody>
      </p:sp>
    </p:spTree>
    <p:extLst>
      <p:ext uri="{BB962C8B-B14F-4D97-AF65-F5344CB8AC3E}">
        <p14:creationId xmlns:p14="http://schemas.microsoft.com/office/powerpoint/2010/main" val="2340622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EDA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265" y="1472665"/>
            <a:ext cx="8715737" cy="4568697"/>
          </a:xfrm>
        </p:spPr>
        <p:txBody>
          <a:bodyPr/>
          <a:lstStyle/>
          <a:p>
            <a:r>
              <a:rPr lang="en-US" b="1" dirty="0"/>
              <a:t>Important Findings</a:t>
            </a:r>
          </a:p>
          <a:p>
            <a:r>
              <a:rPr lang="en-US" dirty="0"/>
              <a:t>SIP inflows increased significantly. </a:t>
            </a:r>
          </a:p>
          <a:p>
            <a:r>
              <a:rPr lang="en-US" dirty="0"/>
              <a:t>Equity funds generated higher returns. </a:t>
            </a:r>
          </a:p>
          <a:p>
            <a:r>
              <a:rPr lang="en-US" dirty="0"/>
              <a:t>Younger investors preferred SIP investments. </a:t>
            </a:r>
          </a:p>
          <a:p>
            <a:r>
              <a:rPr lang="en-US" dirty="0"/>
              <a:t>Large fund houses dominated AUM. </a:t>
            </a:r>
          </a:p>
          <a:p>
            <a:r>
              <a:rPr lang="en-US" dirty="0"/>
              <a:t>Investor behavior varied across states. </a:t>
            </a:r>
          </a:p>
          <a:p>
            <a:r>
              <a:rPr lang="en-US" dirty="0"/>
              <a:t>Insert:</a:t>
            </a:r>
          </a:p>
          <a:p>
            <a:r>
              <a:rPr lang="en-US" dirty="0" err="1"/>
              <a:t>Heatmap</a:t>
            </a:r>
            <a:r>
              <a:rPr lang="en-US" dirty="0"/>
              <a:t> </a:t>
            </a:r>
          </a:p>
          <a:p>
            <a:r>
              <a:rPr lang="en-US" dirty="0"/>
              <a:t>AUM chart</a:t>
            </a:r>
          </a:p>
        </p:txBody>
      </p:sp>
    </p:spTree>
    <p:extLst>
      <p:ext uri="{BB962C8B-B14F-4D97-AF65-F5344CB8AC3E}">
        <p14:creationId xmlns:p14="http://schemas.microsoft.com/office/powerpoint/2010/main" val="4193906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389" y="1472665"/>
            <a:ext cx="8744613" cy="4568697"/>
          </a:xfrm>
        </p:spPr>
        <p:txBody>
          <a:bodyPr>
            <a:normAutofit/>
          </a:bodyPr>
          <a:lstStyle/>
          <a:p>
            <a:r>
              <a:rPr lang="en-IN" b="1" dirty="0"/>
              <a:t>Metrics Calculated</a:t>
            </a:r>
          </a:p>
          <a:p>
            <a:r>
              <a:rPr lang="en-IN" dirty="0"/>
              <a:t>Annual Return </a:t>
            </a:r>
          </a:p>
          <a:p>
            <a:r>
              <a:rPr lang="en-IN" dirty="0"/>
              <a:t>CAGR </a:t>
            </a:r>
          </a:p>
          <a:p>
            <a:r>
              <a:rPr lang="en-IN" dirty="0"/>
              <a:t>Sharpe Ratio </a:t>
            </a:r>
          </a:p>
          <a:p>
            <a:r>
              <a:rPr lang="en-IN" dirty="0" err="1"/>
              <a:t>Sortino</a:t>
            </a:r>
            <a:r>
              <a:rPr lang="en-IN" dirty="0"/>
              <a:t> Ratio </a:t>
            </a:r>
          </a:p>
          <a:p>
            <a:r>
              <a:rPr lang="en-IN" dirty="0"/>
              <a:t>Alpha </a:t>
            </a:r>
          </a:p>
          <a:p>
            <a:r>
              <a:rPr lang="en-IN" dirty="0"/>
              <a:t>Beta </a:t>
            </a:r>
          </a:p>
          <a:p>
            <a:r>
              <a:rPr lang="en-IN" dirty="0"/>
              <a:t>Maximum Drawdown </a:t>
            </a:r>
          </a:p>
          <a:p>
            <a:r>
              <a:rPr lang="en-IN" b="1" dirty="0"/>
              <a:t>Total Funds </a:t>
            </a:r>
            <a:r>
              <a:rPr lang="en-IN" b="1" dirty="0" err="1"/>
              <a:t>Analyzed</a:t>
            </a:r>
            <a:r>
              <a:rPr lang="en-IN" b="1" dirty="0"/>
              <a:t>:</a:t>
            </a:r>
          </a:p>
          <a:p>
            <a:r>
              <a:rPr lang="en-IN" dirty="0"/>
              <a:t>40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6029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Risk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139" y="1511167"/>
            <a:ext cx="8763863" cy="4530196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Advanced Analytics</a:t>
            </a:r>
          </a:p>
          <a:p>
            <a:r>
              <a:rPr lang="en-IN" dirty="0"/>
              <a:t>Value at Risk (</a:t>
            </a:r>
            <a:r>
              <a:rPr lang="en-IN" dirty="0" err="1"/>
              <a:t>VaR</a:t>
            </a:r>
            <a:r>
              <a:rPr lang="en-IN" dirty="0"/>
              <a:t>) </a:t>
            </a:r>
          </a:p>
          <a:p>
            <a:r>
              <a:rPr lang="en-IN" dirty="0"/>
              <a:t>Conditional </a:t>
            </a:r>
            <a:r>
              <a:rPr lang="en-IN" dirty="0" err="1"/>
              <a:t>VaR</a:t>
            </a:r>
            <a:r>
              <a:rPr lang="en-IN" dirty="0"/>
              <a:t> </a:t>
            </a:r>
          </a:p>
          <a:p>
            <a:r>
              <a:rPr lang="en-IN" dirty="0"/>
              <a:t>Rolling Sharpe Ratio </a:t>
            </a:r>
          </a:p>
          <a:p>
            <a:r>
              <a:rPr lang="en-IN" dirty="0"/>
              <a:t>Sector Concentration </a:t>
            </a:r>
          </a:p>
          <a:p>
            <a:r>
              <a:rPr lang="en-IN" dirty="0"/>
              <a:t>SIP Continuity Analysis </a:t>
            </a:r>
          </a:p>
          <a:p>
            <a:r>
              <a:rPr lang="en-IN" b="1" dirty="0"/>
              <a:t>Risk Management Insights:</a:t>
            </a:r>
          </a:p>
          <a:p>
            <a:r>
              <a:rPr lang="en-IN" dirty="0"/>
              <a:t>High-risk funds identified. </a:t>
            </a:r>
          </a:p>
          <a:p>
            <a:r>
              <a:rPr lang="en-IN" dirty="0"/>
              <a:t>Downside risk measured. </a:t>
            </a:r>
          </a:p>
          <a:p>
            <a:r>
              <a:rPr lang="en-IN" dirty="0"/>
              <a:t>Insert:</a:t>
            </a:r>
          </a:p>
          <a:p>
            <a:r>
              <a:rPr lang="en-IN" dirty="0"/>
              <a:t>Rolling Sharpe chart </a:t>
            </a:r>
          </a:p>
          <a:p>
            <a:r>
              <a:rPr lang="en-IN" dirty="0" err="1"/>
              <a:t>VaR</a:t>
            </a:r>
            <a:r>
              <a:rPr lang="en-IN" dirty="0"/>
              <a:t> chart</a:t>
            </a:r>
          </a:p>
        </p:txBody>
      </p:sp>
    </p:spTree>
    <p:extLst>
      <p:ext uri="{BB962C8B-B14F-4D97-AF65-F5344CB8AC3E}">
        <p14:creationId xmlns:p14="http://schemas.microsoft.com/office/powerpoint/2010/main" val="368546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– Industry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764" y="1328287"/>
            <a:ext cx="8754238" cy="4713076"/>
          </a:xfrm>
        </p:spPr>
        <p:txBody>
          <a:bodyPr>
            <a:normAutofit/>
          </a:bodyPr>
          <a:lstStyle/>
          <a:p>
            <a:r>
              <a:rPr lang="en-US" b="1" dirty="0"/>
              <a:t>Power BI Dashboard</a:t>
            </a:r>
          </a:p>
          <a:p>
            <a:r>
              <a:rPr lang="en-US" b="1" dirty="0"/>
              <a:t>Page 1:</a:t>
            </a:r>
          </a:p>
          <a:p>
            <a:r>
              <a:rPr lang="en-US" dirty="0"/>
              <a:t>Total AUM </a:t>
            </a:r>
          </a:p>
          <a:p>
            <a:r>
              <a:rPr lang="en-US" dirty="0"/>
              <a:t>SIP Inflows </a:t>
            </a:r>
          </a:p>
          <a:p>
            <a:r>
              <a:rPr lang="en-US" dirty="0"/>
              <a:t>Fund Houses </a:t>
            </a:r>
          </a:p>
          <a:p>
            <a:r>
              <a:rPr lang="en-US" dirty="0"/>
              <a:t>Industry Growth </a:t>
            </a:r>
          </a:p>
          <a:p>
            <a:r>
              <a:rPr lang="en-US" b="1" dirty="0"/>
              <a:t>Page 2:</a:t>
            </a:r>
          </a:p>
          <a:p>
            <a:r>
              <a:rPr lang="en-US" dirty="0"/>
              <a:t>Fund Performance </a:t>
            </a:r>
          </a:p>
          <a:p>
            <a:r>
              <a:rPr lang="en-US" dirty="0"/>
              <a:t>Risk vs Return </a:t>
            </a:r>
          </a:p>
          <a:p>
            <a:r>
              <a:rPr lang="en-US" dirty="0"/>
              <a:t>Fund Rankings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10938F-1A07-268F-3A06-22A531050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486" y="1328287"/>
            <a:ext cx="5211516" cy="19675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CD76CC-A895-1592-23C3-737BE9C4C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487" y="3537019"/>
            <a:ext cx="5211516" cy="238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602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– Investor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389" y="1222409"/>
            <a:ext cx="8744613" cy="4818954"/>
          </a:xfrm>
        </p:spPr>
        <p:txBody>
          <a:bodyPr/>
          <a:lstStyle/>
          <a:p>
            <a:r>
              <a:rPr lang="en-IN" b="1" dirty="0"/>
              <a:t>Dashboard Pages</a:t>
            </a:r>
          </a:p>
          <a:p>
            <a:r>
              <a:rPr lang="en-IN" b="1" dirty="0"/>
              <a:t>Page 3:</a:t>
            </a:r>
          </a:p>
          <a:p>
            <a:r>
              <a:rPr lang="en-IN" dirty="0"/>
              <a:t>Investor Analysis </a:t>
            </a:r>
          </a:p>
          <a:p>
            <a:r>
              <a:rPr lang="en-IN" dirty="0"/>
              <a:t>Geographic Distribution </a:t>
            </a:r>
          </a:p>
          <a:p>
            <a:r>
              <a:rPr lang="en-IN" dirty="0"/>
              <a:t>Transaction Analysis </a:t>
            </a:r>
          </a:p>
          <a:p>
            <a:r>
              <a:rPr lang="en-IN" b="1" dirty="0"/>
              <a:t>Page 4:</a:t>
            </a:r>
          </a:p>
          <a:p>
            <a:r>
              <a:rPr lang="en-IN" dirty="0"/>
              <a:t>SIP Trends </a:t>
            </a:r>
          </a:p>
          <a:p>
            <a:r>
              <a:rPr lang="en-IN" dirty="0"/>
              <a:t>Market Analysis </a:t>
            </a:r>
          </a:p>
          <a:p>
            <a:r>
              <a:rPr lang="en-IN" dirty="0"/>
              <a:t>Category Inflows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287481-70A8-C0E8-81C6-EB4DCE2B2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925" y="1482901"/>
            <a:ext cx="5596932" cy="25029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DC19BB-2DDC-1D9D-3069-DF1DE87BF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925" y="4069582"/>
            <a:ext cx="5596932" cy="252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482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888" y="1337913"/>
            <a:ext cx="8783114" cy="4703450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Key Findings</a:t>
            </a:r>
          </a:p>
          <a:p>
            <a:r>
              <a:rPr lang="en-IN" dirty="0"/>
              <a:t>SIP investments are increasing. </a:t>
            </a:r>
          </a:p>
          <a:p>
            <a:r>
              <a:rPr lang="en-IN" dirty="0"/>
              <a:t>Risk-adjusted returns differ across funds. </a:t>
            </a:r>
          </a:p>
          <a:p>
            <a:r>
              <a:rPr lang="en-IN" dirty="0"/>
              <a:t>Portfolio diversification reduces risk. </a:t>
            </a:r>
          </a:p>
          <a:p>
            <a:r>
              <a:rPr lang="en-IN" dirty="0"/>
              <a:t>Market corrections impact fund performance. </a:t>
            </a:r>
          </a:p>
          <a:p>
            <a:r>
              <a:rPr lang="en-IN" b="1" dirty="0"/>
              <a:t>Learnings</a:t>
            </a:r>
          </a:p>
          <a:p>
            <a:r>
              <a:rPr lang="en-IN" dirty="0"/>
              <a:t>Python </a:t>
            </a:r>
          </a:p>
          <a:p>
            <a:r>
              <a:rPr lang="en-IN" dirty="0"/>
              <a:t>Pandas </a:t>
            </a:r>
          </a:p>
          <a:p>
            <a:r>
              <a:rPr lang="en-IN" dirty="0"/>
              <a:t>SQL </a:t>
            </a:r>
          </a:p>
          <a:p>
            <a:r>
              <a:rPr lang="en-IN" dirty="0"/>
              <a:t>SQLite </a:t>
            </a:r>
          </a:p>
          <a:p>
            <a:r>
              <a:rPr lang="en-IN" dirty="0"/>
              <a:t>Power BI </a:t>
            </a:r>
          </a:p>
          <a:p>
            <a:r>
              <a:rPr lang="en-IN" dirty="0"/>
              <a:t>Git &amp; GitHub </a:t>
            </a:r>
          </a:p>
        </p:txBody>
      </p:sp>
    </p:spTree>
    <p:extLst>
      <p:ext uri="{BB962C8B-B14F-4D97-AF65-F5344CB8AC3E}">
        <p14:creationId xmlns:p14="http://schemas.microsoft.com/office/powerpoint/2010/main" val="864818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6600" b="1" dirty="0"/>
              <a:t>Thank You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40633" y="1843361"/>
            <a:ext cx="9153624" cy="2693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Thank You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K.S.KEERTHANA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Email: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ksa66117@gmail.com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GitHub:ksk66117-cell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62774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</TotalTime>
  <Words>353</Words>
  <Application>Microsoft Office PowerPoint</Application>
  <PresentationFormat>Widescreen</PresentationFormat>
  <Paragraphs>127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MUTUAL FUND ANALYTICS PLATFORM</vt:lpstr>
      <vt:lpstr>Problem Statement &amp; Objectives</vt:lpstr>
      <vt:lpstr>Data Sources</vt:lpstr>
      <vt:lpstr>Project Architecture</vt:lpstr>
      <vt:lpstr>Exploratory Data Analysis</vt:lpstr>
      <vt:lpstr>Key EDA Findings</vt:lpstr>
      <vt:lpstr>Performance Analytics</vt:lpstr>
      <vt:lpstr>Risk Analysis</vt:lpstr>
      <vt:lpstr>Dashboard – Industry Overview</vt:lpstr>
      <vt:lpstr>Dashboard – Investor Analytics</vt:lpstr>
      <vt:lpstr>Key Findings &amp; Learnings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ANALYTICS PLATFORM</dc:title>
  <dc:creator>User</dc:creator>
  <cp:lastModifiedBy>Keerthana K S</cp:lastModifiedBy>
  <cp:revision>3</cp:revision>
  <dcterms:created xsi:type="dcterms:W3CDTF">2026-06-28T06:25:51Z</dcterms:created>
  <dcterms:modified xsi:type="dcterms:W3CDTF">2026-07-02T15:40:55Z</dcterms:modified>
</cp:coreProperties>
</file>